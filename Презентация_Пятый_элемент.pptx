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7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Пользователь: конкретная ЦА, выбранный сегмент и контекст возникновения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1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Решение: что за продукт и как он решает проблему. Добавьте скриншот или схему.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41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Ценность: 3–4 измеримые пользы. Только реальные данные.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21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Ключевые возможности: 3–5 функций, нужных для решения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260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Killer feature: одна особенность, которую жюри должно запомнить.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56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это работает: один пользовательский путь от ввода до следующего шага.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38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прототип: скриншоты MVP и что покажете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Развитие: этапы после хакатона, сроки — ваши.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4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1621" y="2540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5908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Локальная система формирования протоколов заседаний рабочей группы по аудиозаписям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3454400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i="1" dirty="0">
                <a:solidFill>
                  <a:schemeClr val="bg1"/>
                </a:solidFill>
              </a:rPr>
              <a:t>“</a:t>
            </a:r>
            <a:r>
              <a:rPr lang="ru-RU" sz="1400" b="1" i="1" dirty="0">
                <a:solidFill>
                  <a:schemeClr val="bg1"/>
                </a:solidFill>
              </a:rPr>
              <a:t>Система автоматической подготовки протоколов совещаний с привязкой решений к аудиозаписи, работающая в защищённом контуре</a:t>
            </a:r>
            <a:r>
              <a:rPr lang="en-US" sz="1400" b="1" i="1" dirty="0">
                <a:solidFill>
                  <a:schemeClr val="bg1"/>
                </a:solidFill>
              </a:rPr>
              <a:t>”</a:t>
            </a:r>
            <a:endParaRPr lang="ru-RU" sz="14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СИИ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4064000" y="4597400"/>
            <a:ext cx="71120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Дмитрий Лыков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Manager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Иван 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Сураев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Lead </a:t>
            </a:r>
            <a:r>
              <a:rPr lang="ru-RU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рхитектор решения</a:t>
            </a: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Алексей Килин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Fullstack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разработчик </a:t>
            </a:r>
          </a:p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Наиб 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Манафов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Бизнес- и системный аналитик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ru-RU" sz="1400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4D756AA-C837-B03F-4F45-BF44BECFBD64}"/>
              </a:ext>
            </a:extLst>
          </p:cNvPr>
          <p:cNvSpPr/>
          <p:nvPr/>
        </p:nvSpPr>
        <p:spPr>
          <a:xfrm>
            <a:off x="3428871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Rounded Rectangle 2">
            <a:extLst>
              <a:ext uri="{FF2B5EF4-FFF2-40B4-BE49-F238E27FC236}">
                <a16:creationId xmlns:a16="http://schemas.microsoft.com/office/drawing/2014/main" id="{FECB1428-3F87-359A-E284-AE69EBBE9B07}"/>
              </a:ext>
            </a:extLst>
          </p:cNvPr>
          <p:cNvSpPr/>
          <p:nvPr/>
        </p:nvSpPr>
        <p:spPr>
          <a:xfrm>
            <a:off x="6166353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380C0F64-22E0-BA34-E258-14695CCDF7E7}"/>
              </a:ext>
            </a:extLst>
          </p:cNvPr>
          <p:cNvSpPr/>
          <p:nvPr/>
        </p:nvSpPr>
        <p:spPr>
          <a:xfrm>
            <a:off x="8903835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dirty="0"/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685671" y="4363408"/>
            <a:ext cx="2602494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F034BC4-76BA-09E9-20D7-7FC497224BCB}"/>
              </a:ext>
            </a:extLst>
          </p:cNvPr>
          <p:cNvSpPr txBox="1"/>
          <p:nvPr/>
        </p:nvSpPr>
        <p:spPr>
          <a:xfrm>
            <a:off x="3666996" y="4544383"/>
            <a:ext cx="104355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Иван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ru-RU" sz="1500" b="1" i="0" u="none" dirty="0" err="1">
                <a:solidFill>
                  <a:srgbClr val="0F172A"/>
                </a:solidFill>
                <a:latin typeface="Plus Jakarta Sans"/>
              </a:rPr>
              <a:t>Сураев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7" name="TextBox 18">
            <a:extLst>
              <a:ext uri="{FF2B5EF4-FFF2-40B4-BE49-F238E27FC236}">
                <a16:creationId xmlns:a16="http://schemas.microsoft.com/office/drawing/2014/main" id="{6D584166-3CBB-97ED-CA95-E93ABCCF5F89}"/>
              </a:ext>
            </a:extLst>
          </p:cNvPr>
          <p:cNvSpPr txBox="1"/>
          <p:nvPr/>
        </p:nvSpPr>
        <p:spPr>
          <a:xfrm>
            <a:off x="3666996" y="4830133"/>
            <a:ext cx="30297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Team Lead &amp;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Архитектор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решения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8" name="TextBox 19">
            <a:extLst>
              <a:ext uri="{FF2B5EF4-FFF2-40B4-BE49-F238E27FC236}">
                <a16:creationId xmlns:a16="http://schemas.microsoft.com/office/drawing/2014/main" id="{2547A341-0057-E4A8-9CB2-B394F94E23D1}"/>
              </a:ext>
            </a:extLst>
          </p:cNvPr>
          <p:cNvSpPr txBox="1"/>
          <p:nvPr/>
        </p:nvSpPr>
        <p:spPr>
          <a:xfrm>
            <a:off x="6404478" y="4544383"/>
            <a:ext cx="12619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Алексей Килин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18E4DAC3-B2BB-CDD6-97AF-BF7ED8CAC5BC}"/>
              </a:ext>
            </a:extLst>
          </p:cNvPr>
          <p:cNvSpPr txBox="1"/>
          <p:nvPr/>
        </p:nvSpPr>
        <p:spPr>
          <a:xfrm>
            <a:off x="6404478" y="4808508"/>
            <a:ext cx="14443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>
                <a:solidFill>
                  <a:srgbClr val="64748B"/>
                </a:solidFill>
                <a:latin typeface="Plus Jakarta Sans"/>
              </a:rPr>
              <a:t>Fullstack</a:t>
            </a:r>
            <a:r>
              <a:rPr lang="en-US" sz="1200" dirty="0">
                <a:solidFill>
                  <a:srgbClr val="64748B"/>
                </a:solidFill>
                <a:latin typeface="Plus Jakarta Sans"/>
              </a:rPr>
              <a:t>-</a:t>
            </a:r>
            <a:r>
              <a:rPr lang="ru-RU" sz="1200" dirty="0">
                <a:solidFill>
                  <a:srgbClr val="64748B"/>
                </a:solidFill>
                <a:latin typeface="Plus Jakarta Sans"/>
              </a:rPr>
              <a:t>разработчик </a:t>
            </a:r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923796" y="4544383"/>
            <a:ext cx="135767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i="0" u="none" dirty="0">
                <a:solidFill>
                  <a:srgbClr val="0F172A"/>
                </a:solidFill>
                <a:latin typeface="Plus Jakarta Sans"/>
              </a:rPr>
              <a:t>Дмитрий Лыков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923796" y="4830133"/>
            <a:ext cx="16816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64748B"/>
                </a:solidFill>
                <a:latin typeface="Plus Jakarta Sans"/>
              </a:rPr>
              <a:t>Project</a:t>
            </a:r>
            <a:r>
              <a:rPr lang="ru-RU" sz="1200" dirty="0">
                <a:solidFill>
                  <a:srgbClr val="64748B"/>
                </a:solidFill>
                <a:latin typeface="Plus Jakarta Sans"/>
              </a:rPr>
              <a:t> и </a:t>
            </a:r>
            <a:r>
              <a:rPr lang="en-US" sz="1200" dirty="0">
                <a:solidFill>
                  <a:srgbClr val="64748B"/>
                </a:solidFill>
                <a:latin typeface="Plus Jakarta Sans"/>
              </a:rPr>
              <a:t>Product Manager</a:t>
            </a:r>
            <a:endParaRPr sz="1200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18F7DF6B-C3F6-9DB2-C307-138C1ECF9C97}"/>
              </a:ext>
            </a:extLst>
          </p:cNvPr>
          <p:cNvSpPr txBox="1"/>
          <p:nvPr/>
        </p:nvSpPr>
        <p:spPr>
          <a:xfrm>
            <a:off x="9144436" y="4556438"/>
            <a:ext cx="125996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Наиб </a:t>
            </a:r>
            <a:r>
              <a:rPr lang="ru-RU" sz="1500" b="1" dirty="0" err="1">
                <a:solidFill>
                  <a:srgbClr val="0F172A"/>
                </a:solidFill>
                <a:latin typeface="Plus Jakarta Sans"/>
              </a:rPr>
              <a:t>Манафов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0C73E7-739E-CCE8-79CD-9F5F34014438}"/>
              </a:ext>
            </a:extLst>
          </p:cNvPr>
          <p:cNvSpPr txBox="1"/>
          <p:nvPr/>
        </p:nvSpPr>
        <p:spPr>
          <a:xfrm>
            <a:off x="9075066" y="4791645"/>
            <a:ext cx="2913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ru-RU" sz="1200" dirty="0">
                <a:solidFill>
                  <a:srgbClr val="64748B"/>
                </a:solidFill>
                <a:latin typeface="Plus Jakarta Sans"/>
              </a:rPr>
              <a:t>Бизнес- и системный аналитик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A51FDD6B-6689-3D63-645B-18E2447E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6" y="1622293"/>
            <a:ext cx="2526247" cy="26954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3E4C096-25BD-04BF-9C1E-C40E910A9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02" r="10111"/>
          <a:stretch/>
        </p:blipFill>
        <p:spPr bwMode="auto">
          <a:xfrm>
            <a:off x="8912747" y="1641899"/>
            <a:ext cx="2681547" cy="264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D09316F-0F03-5B86-CB86-7E5FBDEBD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507" y="1652617"/>
            <a:ext cx="2233889" cy="266509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31D1E5B0-4135-E310-3BBD-6EEB35B37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259" y="1641899"/>
            <a:ext cx="2045942" cy="26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 b="1" dirty="0">
                <a:solidFill>
                  <a:srgbClr val="FFFFFF"/>
                </a:solidFill>
                <a:latin typeface="Arial"/>
              </a:rPr>
              <a:t>Протокол заседания готовится вручную: это часы работы, а решения и поручения всё равно теряются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09600" y="2793999"/>
            <a:ext cx="3521710" cy="3227421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i="1" spc="100" dirty="0">
                <a:solidFill>
                  <a:srgbClr val="22A889"/>
                </a:solidFill>
                <a:latin typeface="Arial" panose="020B0604020202020204" pitchFamily="34" charset="0"/>
              </a:rPr>
              <a:t>Секретари и руководители рабочих групп промышленных компаний, где протокол обязателен по регламенту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4510" y="2794000"/>
            <a:ext cx="3521710" cy="322742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i="1" spc="100" dirty="0">
                <a:solidFill>
                  <a:srgbClr val="22A889"/>
                </a:solidFill>
                <a:latin typeface="Arial" panose="020B0604020202020204" pitchFamily="34" charset="0"/>
              </a:rPr>
              <a:t>Ручная расшифровка и оформление занимают часы; технические термины искажаются, поручения остаются без сроков и ответственных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59420" y="2794000"/>
            <a:ext cx="3521710" cy="322742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3420" y="3886200"/>
            <a:ext cx="3235960" cy="17266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 i="1" spc="100" dirty="0">
                <a:solidFill>
                  <a:srgbClr val="22A889"/>
                </a:solidFill>
                <a:latin typeface="Arial" panose="020B0604020202020204" pitchFamily="34" charset="0"/>
              </a:rPr>
              <a:t>Потеря даже одного поручения приводит к переделкам, задержкам графика и дополнительным затратам. Ошибки критичны из-за технических терминов, большого числа участников и </a:t>
            </a:r>
            <a:r>
              <a:rPr lang="ru-RU" sz="1400" b="1" i="1" spc="100" dirty="0" err="1">
                <a:solidFill>
                  <a:srgbClr val="22A889"/>
                </a:solidFill>
                <a:latin typeface="Arial" panose="020B0604020202020204" pitchFamily="34" charset="0"/>
              </a:rPr>
              <a:t>межорганизационных</a:t>
            </a:r>
            <a:r>
              <a:rPr lang="ru-RU" sz="1400" b="1" i="1" spc="100" dirty="0">
                <a:solidFill>
                  <a:srgbClr val="22A889"/>
                </a:solidFill>
                <a:latin typeface="Arial" panose="020B0604020202020204" pitchFamily="34" charset="0"/>
              </a:rPr>
              <a:t> согласований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04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56B247D-FF20-5A24-8CB1-550DA9BC002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361991E-6A1F-D7A4-F342-F73157C707E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9E4CE54-FFF6-A969-E9B7-9B4191403C9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E64657D-D2A1-AC5C-802A-698B9F6A725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CF97B05-DAC9-B61C-B394-D46CAB72099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8F21BAF-0531-CC27-610E-A88E52B080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EF228FD-634B-A71A-6C7F-040F622A9EB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2FF8834-AC51-783B-F4EE-4B7ED1685F8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5657C1A-A19C-8442-2DF2-C0459A665C62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DD9CD7-FA6E-9B7D-B5FB-6F4440A3B69B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9FCF398-0DA1-06A1-99C6-A118DBC767E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42711D-C84D-271D-0782-0139C41E5BD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47B9B6-8D31-2105-9375-AF83D4BDDE67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876DE32-1E85-27A7-8432-1E022F1AC27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6C9D4CC-EB52-68CA-6027-D9BA6C65929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3EA97F5-9416-1D12-093A-E48367F45EE3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3CD0466-70EE-7302-F3A8-A98CCEB0C227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6D4264-7F21-BE89-589F-2CCF2AD9F9E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1077BB96-9250-7E3A-60D3-D5469B8CED58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11507E5-1367-063F-3FB7-579C36B01586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38DA347-9E40-78BF-3146-EC62CD51A09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1742702-C865-2982-9428-433CD15D886C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9AA0890-1B5F-5A6F-2A35-47F9C431F15F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2E6DB67-44A6-88BB-218C-BDCCE0B584E5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92E34B9-24A9-424F-FB8D-A398D0B158D2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25126ED-7BE8-6B7F-7D71-7DC635CBDDFB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083EEE3-30A0-B936-95FC-0E80BC47DBBC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F1D36EB8-6D8B-59C0-D2BE-912333CB3546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1514C11-7344-35B2-746D-5912F3751BB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/>
          <p:nvPr/>
        </p:nvSpPr>
        <p:spPr>
          <a:xfrm>
            <a:off x="609600" y="1320800"/>
            <a:ext cx="3810000" cy="4445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ABE81A78-B8F3-C59C-3E6C-E0A1AA1CD8DE}"/>
              </a:ext>
            </a:extLst>
          </p:cNvPr>
          <p:cNvSpPr/>
          <p:nvPr/>
        </p:nvSpPr>
        <p:spPr>
          <a:xfrm>
            <a:off x="1752600" y="1625600"/>
            <a:ext cx="1524000" cy="152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4" name="PixelHeart">
            <a:extLst>
              <a:ext uri="{FF2B5EF4-FFF2-40B4-BE49-F238E27FC236}">
                <a16:creationId xmlns:a16="http://schemas.microsoft.com/office/drawing/2014/main" id="{F5FDC6D4-86B7-C691-C6D0-743D000AA0A5}"/>
              </a:ext>
            </a:extLst>
          </p:cNvPr>
          <p:cNvGrpSpPr/>
          <p:nvPr/>
        </p:nvGrpSpPr>
        <p:grpSpPr>
          <a:xfrm>
            <a:off x="2165350" y="2108200"/>
            <a:ext cx="742950" cy="628650"/>
            <a:chOff x="2165350" y="2108200"/>
            <a:chExt cx="742950" cy="628650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7397505D-CB13-D618-E2CC-A5E44E8ACD9F}"/>
                </a:ext>
              </a:extLst>
            </p:cNvPr>
            <p:cNvSpPr/>
            <p:nvPr/>
          </p:nvSpPr>
          <p:spPr>
            <a:xfrm>
              <a:off x="22796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B903745-8678-B1FA-991C-4EED7CE2F1CC}"/>
                </a:ext>
              </a:extLst>
            </p:cNvPr>
            <p:cNvSpPr/>
            <p:nvPr/>
          </p:nvSpPr>
          <p:spPr>
            <a:xfrm>
              <a:off x="23368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0931ACBA-1FA4-91C6-1523-1CA9AFD5DBE9}"/>
                </a:ext>
              </a:extLst>
            </p:cNvPr>
            <p:cNvSpPr/>
            <p:nvPr/>
          </p:nvSpPr>
          <p:spPr>
            <a:xfrm>
              <a:off x="23939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53FAE1B5-7620-4541-8554-84A3B886324C}"/>
                </a:ext>
              </a:extLst>
            </p:cNvPr>
            <p:cNvSpPr/>
            <p:nvPr/>
          </p:nvSpPr>
          <p:spPr>
            <a:xfrm>
              <a:off x="26225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BA4FA758-43BD-97F5-81D9-5ACD06EE9149}"/>
                </a:ext>
              </a:extLst>
            </p:cNvPr>
            <p:cNvSpPr/>
            <p:nvPr/>
          </p:nvSpPr>
          <p:spPr>
            <a:xfrm>
              <a:off x="26797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3C8F0FAA-68BF-AE4E-9D2A-25281F8B9BDE}"/>
                </a:ext>
              </a:extLst>
            </p:cNvPr>
            <p:cNvSpPr/>
            <p:nvPr/>
          </p:nvSpPr>
          <p:spPr>
            <a:xfrm>
              <a:off x="27368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7E42AF72-B216-24BF-7EDC-45B075161D46}"/>
                </a:ext>
              </a:extLst>
            </p:cNvPr>
            <p:cNvSpPr/>
            <p:nvPr/>
          </p:nvSpPr>
          <p:spPr>
            <a:xfrm>
              <a:off x="22225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98A379BB-74BD-DFE4-B8F3-4755CB6162E5}"/>
                </a:ext>
              </a:extLst>
            </p:cNvPr>
            <p:cNvSpPr/>
            <p:nvPr/>
          </p:nvSpPr>
          <p:spPr>
            <a:xfrm>
              <a:off x="24511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0F0BFF4D-3DE2-3E15-C514-BE1128F43344}"/>
                </a:ext>
              </a:extLst>
            </p:cNvPr>
            <p:cNvSpPr/>
            <p:nvPr/>
          </p:nvSpPr>
          <p:spPr>
            <a:xfrm>
              <a:off x="25654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BC64F689-E0D2-99F5-260E-253A11BA25D6}"/>
                </a:ext>
              </a:extLst>
            </p:cNvPr>
            <p:cNvSpPr/>
            <p:nvPr/>
          </p:nvSpPr>
          <p:spPr>
            <a:xfrm>
              <a:off x="27940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AB42AAD6-4C31-21CB-7D51-710721A62ACD}"/>
                </a:ext>
              </a:extLst>
            </p:cNvPr>
            <p:cNvSpPr/>
            <p:nvPr/>
          </p:nvSpPr>
          <p:spPr>
            <a:xfrm>
              <a:off x="21653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3430823A-6D47-1BEC-F5C4-A9D5D94E7566}"/>
                </a:ext>
              </a:extLst>
            </p:cNvPr>
            <p:cNvSpPr/>
            <p:nvPr/>
          </p:nvSpPr>
          <p:spPr>
            <a:xfrm>
              <a:off x="25082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35FC7404-B560-26DA-8F1A-25B02BD86B03}"/>
                </a:ext>
              </a:extLst>
            </p:cNvPr>
            <p:cNvSpPr/>
            <p:nvPr/>
          </p:nvSpPr>
          <p:spPr>
            <a:xfrm>
              <a:off x="28511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DB597668-23A0-7C64-1959-21203B4DEA09}"/>
                </a:ext>
              </a:extLst>
            </p:cNvPr>
            <p:cNvSpPr/>
            <p:nvPr/>
          </p:nvSpPr>
          <p:spPr>
            <a:xfrm>
              <a:off x="21653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E51C2EFC-0CAD-F754-F875-1991C1D9AB1C}"/>
                </a:ext>
              </a:extLst>
            </p:cNvPr>
            <p:cNvSpPr/>
            <p:nvPr/>
          </p:nvSpPr>
          <p:spPr>
            <a:xfrm>
              <a:off x="28511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1392214E-7B20-49AC-FFAF-30CB637116BA}"/>
                </a:ext>
              </a:extLst>
            </p:cNvPr>
            <p:cNvSpPr/>
            <p:nvPr/>
          </p:nvSpPr>
          <p:spPr>
            <a:xfrm>
              <a:off x="21653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95860716-4722-E4B5-F04F-50E9C9B68A29}"/>
                </a:ext>
              </a:extLst>
            </p:cNvPr>
            <p:cNvSpPr/>
            <p:nvPr/>
          </p:nvSpPr>
          <p:spPr>
            <a:xfrm>
              <a:off x="28511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F18F35DB-0C5D-B4B1-7F35-AEB6A2BA461A}"/>
                </a:ext>
              </a:extLst>
            </p:cNvPr>
            <p:cNvSpPr/>
            <p:nvPr/>
          </p:nvSpPr>
          <p:spPr>
            <a:xfrm>
              <a:off x="22225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663673EA-DE7B-9D26-5E7B-8EBE66DD6845}"/>
                </a:ext>
              </a:extLst>
            </p:cNvPr>
            <p:cNvSpPr/>
            <p:nvPr/>
          </p:nvSpPr>
          <p:spPr>
            <a:xfrm>
              <a:off x="27940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846C2CF8-1EA3-35F3-6DB6-61AB50B680C9}"/>
                </a:ext>
              </a:extLst>
            </p:cNvPr>
            <p:cNvSpPr/>
            <p:nvPr/>
          </p:nvSpPr>
          <p:spPr>
            <a:xfrm>
              <a:off x="22796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93E7C103-C924-0952-5DEE-3AE2D6A7EF52}"/>
                </a:ext>
              </a:extLst>
            </p:cNvPr>
            <p:cNvSpPr/>
            <p:nvPr/>
          </p:nvSpPr>
          <p:spPr>
            <a:xfrm>
              <a:off x="27368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4D3CA6DA-EB83-B44F-5C4A-E96021E03133}"/>
                </a:ext>
              </a:extLst>
            </p:cNvPr>
            <p:cNvSpPr/>
            <p:nvPr/>
          </p:nvSpPr>
          <p:spPr>
            <a:xfrm>
              <a:off x="23368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27BC3720-9408-DC5B-DA54-8141C8D41575}"/>
                </a:ext>
              </a:extLst>
            </p:cNvPr>
            <p:cNvSpPr/>
            <p:nvPr/>
          </p:nvSpPr>
          <p:spPr>
            <a:xfrm>
              <a:off x="26797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A6934A12-1494-446E-B9B7-4E06AC6F1A35}"/>
                </a:ext>
              </a:extLst>
            </p:cNvPr>
            <p:cNvSpPr/>
            <p:nvPr/>
          </p:nvSpPr>
          <p:spPr>
            <a:xfrm>
              <a:off x="23939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CADC189E-D130-2E90-4521-99DA086EC403}"/>
                </a:ext>
              </a:extLst>
            </p:cNvPr>
            <p:cNvSpPr/>
            <p:nvPr/>
          </p:nvSpPr>
          <p:spPr>
            <a:xfrm>
              <a:off x="26225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339A83C9-58AD-9D59-A10C-E8E11DF9CE7C}"/>
                </a:ext>
              </a:extLst>
            </p:cNvPr>
            <p:cNvSpPr/>
            <p:nvPr/>
          </p:nvSpPr>
          <p:spPr>
            <a:xfrm>
              <a:off x="24511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ACC00643-7925-632B-CE94-57C77BE01CCB}"/>
                </a:ext>
              </a:extLst>
            </p:cNvPr>
            <p:cNvSpPr/>
            <p:nvPr/>
          </p:nvSpPr>
          <p:spPr>
            <a:xfrm>
              <a:off x="25654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61507F75-FAA3-4E1F-9E6F-F6FDE96EA929}"/>
                </a:ext>
              </a:extLst>
            </p:cNvPr>
            <p:cNvSpPr/>
            <p:nvPr/>
          </p:nvSpPr>
          <p:spPr>
            <a:xfrm>
              <a:off x="2508250" y="26797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 txBox="1"/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900" b="1" spc="150" dirty="0">
                <a:solidFill>
                  <a:srgbClr val="22A889"/>
                </a:solidFill>
                <a:latin typeface="Arial" panose="020B0604020202020204" pitchFamily="34" charset="0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 txBox="1"/>
          <p:nvPr/>
        </p:nvSpPr>
        <p:spPr>
          <a:xfrm>
            <a:off x="863600" y="365760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400" b="1" dirty="0">
                <a:solidFill>
                  <a:srgbClr val="0F1B3D"/>
                </a:solidFill>
                <a:latin typeface="Arial"/>
              </a:rPr>
              <a:t>Руководитель или секретарь производственных и технических совещаний в промышленной компании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 txBox="1"/>
          <p:nvPr/>
        </p:nvSpPr>
        <p:spPr>
          <a:xfrm>
            <a:off x="863600" y="4679950"/>
            <a:ext cx="3302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150" dirty="0">
                <a:solidFill>
                  <a:srgbClr val="6B7892"/>
                </a:solidFill>
                <a:latin typeface="Arial"/>
              </a:rPr>
              <a:t>30–55 лет · руководитель рабочей группы, секретарь штаба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/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/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 txBox="1"/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 txBox="1"/>
          <p:nvPr/>
        </p:nvSpPr>
        <p:spPr>
          <a:xfrm>
            <a:off x="5588000" y="1879600"/>
            <a:ext cx="5715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0F1B3D"/>
                </a:solidFill>
                <a:latin typeface="Arial"/>
              </a:rPr>
              <a:t>Производственные и технические подразделения: штабы на месторождениях, НПЗ и нефтебазах; совещания по бурению, ремонту, строительству и эксплуатации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/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/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 txBox="1"/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 txBox="1"/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0F1B3D"/>
                </a:solidFill>
                <a:latin typeface="Arial"/>
              </a:rPr>
              <a:t>Промышленные холдинги с дочерними обществами и подрядчиками: протокол обязателен, ошибка критична, данные нельзя выносить за контур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/>
          <p:nvPr/>
        </p:nvSpPr>
        <p:spPr>
          <a:xfrm>
            <a:off x="4673600" y="4419599"/>
            <a:ext cx="6908800" cy="2224392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/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 txBox="1"/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 txBox="1"/>
          <p:nvPr/>
        </p:nvSpPr>
        <p:spPr>
          <a:xfrm>
            <a:off x="5588000" y="49784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Текущий процесс: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диктофон → ручная расшифровка → Word,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→ рассылка. </a:t>
            </a:r>
          </a:p>
          <a:p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Проблема: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существующие сервисы 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транскрибации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500" dirty="0" err="1">
                <a:latin typeface="Arial" panose="020B0604020202020204" pitchFamily="34" charset="0"/>
                <a:cs typeface="Arial" panose="020B0604020202020204" pitchFamily="34" charset="0"/>
              </a:rPr>
              <a:t>MyMeet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, Speech2Text) не структурируют решения и поручения в протокол. </a:t>
            </a:r>
          </a:p>
          <a:p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  <a:r>
              <a:rPr lang="ru-RU" sz="1500" dirty="0">
                <a:latin typeface="Arial" panose="020B0604020202020204" pitchFamily="34" charset="0"/>
                <a:cs typeface="Arial" panose="020B0604020202020204" pitchFamily="34" charset="0"/>
              </a:rPr>
              <a:t> протокол всё равно готовится вручную.</a:t>
            </a:r>
            <a:endParaRPr lang="ru-RU" sz="1500" dirty="0">
              <a:solidFill>
                <a:srgbClr val="0F1B3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B845745-7E20-320A-0087-0527C74AB10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B4B66FD-F435-7C17-D350-2AD351260734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ADAB74C-F431-9350-71AB-974ED36E242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83AE699-6108-D747-4EC5-C77E68ACD9C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9BBED82-C31C-727B-C84E-7DBB4742E5B7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DCCC5E9-D85D-7B03-5434-D44A77CD1CA9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8FFD90-6C58-E810-8B58-97F9D3B8B687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B7519F-6B70-ADA6-3216-4CB5C37F26A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E7009FEC-E36C-8C13-610D-954527E15E9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31C221F-E1C8-1D93-7194-FB70258F3CB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C142320-4D8E-D458-941C-F5153A5B2092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C6D7C0C-26E5-0142-A059-9F593EF615B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F0A95D-824A-3C3E-8104-D6FA466C3420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1B85C5-A21D-A791-35A8-8D953D6F629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142C75E-B0BC-C09D-27A7-3ABD329C83E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737EFE9-4A4F-99CD-4308-130F8B18A54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7A66CC-87CC-2AFD-5175-871BE074F88B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41770E3-D9B2-2226-A7E9-BA35B6BE3E2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392808F-5C93-678A-68B7-726AFE03B4D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E3A129F-FCF5-C070-4F66-FB4DB6473489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87E3A7A-0E62-527D-A2DC-51B6F91D901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7B157A-9CA9-A442-7316-5B9AD712BFD4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D3FE673-D6B7-8F95-6FE9-90F09BE3A946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9312BD8-55AE-5C20-91B7-BD5B5FBE895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5DB632F-87CD-A2F8-0683-9CC71AF281A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736626B-7072-B270-DDF2-99EF02B066F9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4C36A90-E70F-B8BB-98A7-3778E73BFEE4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F590B6C-F52F-F2A1-1040-F3879F3A1351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F6798FB0-2739-0CE2-FC75-C252CD3D34E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 txBox="1"/>
          <p:nvPr/>
        </p:nvSpPr>
        <p:spPr>
          <a:xfrm>
            <a:off x="1981200" y="51562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/>
          <p:nvPr/>
        </p:nvSpPr>
        <p:spPr>
          <a:xfrm>
            <a:off x="2514600" y="1187126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 txBox="1"/>
          <p:nvPr/>
        </p:nvSpPr>
        <p:spPr>
          <a:xfrm>
            <a:off x="2819400" y="1390326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7FE3C4"/>
                </a:solidFill>
                <a:latin typeface="Arial" panose="020B0604020202020204" pitchFamily="34" charset="0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 txBox="1"/>
          <p:nvPr/>
        </p:nvSpPr>
        <p:spPr>
          <a:xfrm>
            <a:off x="2819400" y="1661701"/>
            <a:ext cx="5994400" cy="16941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b="1" dirty="0">
                <a:solidFill>
                  <a:srgbClr val="FFFFFF"/>
                </a:solidFill>
                <a:latin typeface="Arial"/>
              </a:rPr>
              <a:t>Сервис принимает аудиозапись заседания и формирует структурированный протокол: тема, участники, решения, поручения, ответственные, сроки, риски. Документ проверяется и экспортируется в DOCX/PDF или передаётся в корпоративную систему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 txBox="1"/>
          <p:nvPr/>
        </p:nvSpPr>
        <p:spPr>
          <a:xfrm>
            <a:off x="2514600" y="3346774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22A889"/>
                </a:solidFill>
                <a:latin typeface="Arial" panose="020B0604020202020204" pitchFamily="34" charset="0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/>
          <p:nvPr/>
        </p:nvSpPr>
        <p:spPr>
          <a:xfrm>
            <a:off x="2514600" y="3626174"/>
            <a:ext cx="1905000" cy="21209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 txBox="1"/>
          <p:nvPr/>
        </p:nvSpPr>
        <p:spPr>
          <a:xfrm>
            <a:off x="2717800" y="3829374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 txBox="1"/>
          <p:nvPr/>
        </p:nvSpPr>
        <p:spPr>
          <a:xfrm>
            <a:off x="2717800" y="4438974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/>
              </a:rPr>
              <a:t>Ручная расшифровка и оформление протокола; решения и поручения теряются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 txBox="1"/>
          <p:nvPr/>
        </p:nvSpPr>
        <p:spPr>
          <a:xfrm>
            <a:off x="4470400" y="4464374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/>
          <p:nvPr/>
        </p:nvSpPr>
        <p:spPr>
          <a:xfrm>
            <a:off x="4826000" y="3626174"/>
            <a:ext cx="1905000" cy="21209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 txBox="1"/>
          <p:nvPr/>
        </p:nvSpPr>
        <p:spPr>
          <a:xfrm>
            <a:off x="5029200" y="3829374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 txBox="1"/>
          <p:nvPr/>
        </p:nvSpPr>
        <p:spPr>
          <a:xfrm>
            <a:off x="5029200" y="4281116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/>
              </a:rPr>
              <a:t>Распознаёт русскую речь с </a:t>
            </a:r>
            <a:r>
              <a:rPr lang="ru-RU" sz="1200" dirty="0" err="1">
                <a:solidFill>
                  <a:srgbClr val="6B7892"/>
                </a:solidFill>
                <a:latin typeface="Arial"/>
              </a:rPr>
              <a:t>таймкодами</a:t>
            </a:r>
            <a:r>
              <a:rPr lang="ru-RU" sz="1200" dirty="0">
                <a:solidFill>
                  <a:srgbClr val="6B7892"/>
                </a:solidFill>
                <a:latin typeface="Arial"/>
              </a:rPr>
              <a:t> и спикерами, извлекает решения и поручения, привязывает их к фрагментам аудио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 txBox="1"/>
          <p:nvPr/>
        </p:nvSpPr>
        <p:spPr>
          <a:xfrm>
            <a:off x="6781800" y="4464374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/>
          <p:nvPr/>
        </p:nvSpPr>
        <p:spPr>
          <a:xfrm>
            <a:off x="7137400" y="3626173"/>
            <a:ext cx="1905000" cy="2120899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 txBox="1"/>
          <p:nvPr/>
        </p:nvSpPr>
        <p:spPr>
          <a:xfrm>
            <a:off x="7340600" y="3829374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 txBox="1"/>
          <p:nvPr/>
        </p:nvSpPr>
        <p:spPr>
          <a:xfrm>
            <a:off x="7340600" y="4438974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/>
              </a:rPr>
              <a:t>Проверенный протокол в корпоративном формате сразу после заседания</a:t>
            </a:r>
          </a:p>
        </p:txBody>
      </p:sp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06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55E20A2-0BCE-27C2-A337-8726CBC2286F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2829D8C-F18D-B1E8-728B-BB2562909BB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6AB556-3B7B-8845-08D5-6C9805AD1B1E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C9A401B-8D57-1568-BA79-F4E408E97912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B7F383E-DFD5-4AA8-2C93-D47C2C82C2D3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57D6249-6352-1195-304E-92584816161F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C6A21B5-1A51-818A-D50C-9418DC9AC4DB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9842DD4-0511-5F15-23BE-DB86DD033E0F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96CB868-B1DB-CF6C-D35A-584675C10155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A20F218-7463-B104-0477-505853547E39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C55B7B9-7CC5-DBFF-AADA-2481453243C3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E5E1266-F93C-8835-4133-025814D3B70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AE24A51-45F6-C1A3-5A03-4C977A4510BC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C212C6B-0FEC-12CF-8E7C-E2518163D28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1DB416-5A80-6B30-F839-FC15CE755C7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98EFEDD-4734-62D4-93E9-6D6811EABBE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C85B963-3F3D-1EFA-E809-0BE69EB9C37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040BA5B2-2E9A-9BA8-D892-6F2BFC478DC7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F4BC92F9-D6ED-524B-940E-C4C6327F7C83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24260F5F-1E0D-2A13-E001-ACEDCD02092A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6FBB2FA-A625-890A-046E-4E6B45448AAE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C827E2D-E3F1-4EFE-7039-F19A896110F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C20F2483-D5C8-D338-D4F7-D14DE4DC0DB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9FDDBE40-77B2-78C7-0750-BA0DD6668148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D0403811-8CC5-CCF1-086C-D5C1F8FD94DA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FB7E1DA-9FC3-B410-AF03-D92B87D49D9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4204A84-4C38-8054-15DE-6DF9283F1A23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CE84307-58D8-2681-F279-CD6D0A34F33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87669487-4751-3EF6-9CDC-D58043E97D22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 txBox="1"/>
          <p:nvPr/>
        </p:nvSpPr>
        <p:spPr>
          <a:xfrm>
            <a:off x="609600" y="1270000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 dirty="0">
                <a:solidFill>
                  <a:srgbClr val="35425F"/>
                </a:solidFill>
                <a:latin typeface="Arial"/>
              </a:rPr>
              <a:t>Протокол готов сразу после заседания, и каждое решение в нём можно проверить по исходной аудиозаписи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59D0B-6C00-BA6F-729B-96A63B32EDE0}"/>
              </a:ext>
            </a:extLst>
          </p:cNvPr>
          <p:cNvSpPr txBox="1"/>
          <p:nvPr/>
        </p:nvSpPr>
        <p:spPr>
          <a:xfrm>
            <a:off x="609600" y="1729740"/>
            <a:ext cx="6094378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ru-RU" sz="1400" b="1" dirty="0">
                <a:solidFill>
                  <a:srgbClr val="11A78B"/>
                </a:solidFill>
                <a:latin typeface="Inter"/>
              </a:rPr>
              <a:t>ЧТО ПОЛУЧАЕТ ПОЛЬЗОВАТЕЛЬ</a:t>
            </a:r>
          </a:p>
          <a:p>
            <a:pPr>
              <a:spcAft>
                <a:spcPts val="1200"/>
              </a:spcAft>
            </a:pPr>
            <a:r>
              <a:rPr lang="ru-RU" sz="1800" b="1" dirty="0">
                <a:solidFill>
                  <a:srgbClr val="11A78B"/>
                </a:solidFill>
                <a:latin typeface="Inter"/>
              </a:rPr>
              <a:t>✓  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Черновик протокола готов сразу после заседания — без ручной расшифровки</a:t>
            </a:r>
          </a:p>
          <a:p>
            <a:pPr>
              <a:spcAft>
                <a:spcPts val="1200"/>
              </a:spcAft>
            </a:pPr>
            <a:r>
              <a:rPr lang="ru-RU" sz="1800" b="1" dirty="0">
                <a:solidFill>
                  <a:srgbClr val="11A78B"/>
                </a:solidFill>
                <a:latin typeface="Inter"/>
              </a:rPr>
              <a:t>✓  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Единый корпоративный формат документов DOCX/PDF</a:t>
            </a:r>
          </a:p>
          <a:p>
            <a:pPr>
              <a:spcAft>
                <a:spcPts val="1200"/>
              </a:spcAft>
            </a:pPr>
            <a:r>
              <a:rPr lang="ru-RU" sz="1800" b="1" dirty="0">
                <a:solidFill>
                  <a:srgbClr val="11A78B"/>
                </a:solidFill>
                <a:latin typeface="Inter"/>
              </a:rPr>
              <a:t>✓  </a:t>
            </a:r>
            <a:r>
              <a:rPr lang="ru-RU" sz="1800" dirty="0" err="1">
                <a:solidFill>
                  <a:srgbClr val="0E1F3D"/>
                </a:solidFill>
                <a:latin typeface="Inter"/>
              </a:rPr>
              <a:t>Таймкод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 и исходная реплика для каждого решения и поручения</a:t>
            </a:r>
          </a:p>
          <a:p>
            <a:pPr>
              <a:spcAft>
                <a:spcPts val="1200"/>
              </a:spcAft>
            </a:pPr>
            <a:r>
              <a:rPr lang="ru-RU" sz="1800" b="1" dirty="0">
                <a:solidFill>
                  <a:srgbClr val="11A78B"/>
                </a:solidFill>
                <a:latin typeface="Inter"/>
              </a:rPr>
              <a:t>✓  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Подсветка сроков и формулировок</a:t>
            </a:r>
          </a:p>
          <a:p>
            <a:pPr>
              <a:spcAft>
                <a:spcPts val="1200"/>
              </a:spcAft>
            </a:pPr>
            <a:r>
              <a:rPr lang="ru-RU" sz="1800" dirty="0">
                <a:solidFill>
                  <a:srgbClr val="11A78B"/>
                </a:solidFill>
                <a:latin typeface="Inter"/>
              </a:rPr>
              <a:t>✓  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Работа в закрытом контур</a:t>
            </a:r>
            <a:r>
              <a:rPr lang="ru-RU" dirty="0">
                <a:solidFill>
                  <a:srgbClr val="0E1F3D"/>
                </a:solidFill>
                <a:latin typeface="Inter"/>
              </a:rPr>
              <a:t>е</a:t>
            </a:r>
            <a:r>
              <a:rPr lang="ru-RU" sz="1800" dirty="0">
                <a:solidFill>
                  <a:srgbClr val="0E1F3D"/>
                </a:solidFill>
                <a:latin typeface="Inter"/>
              </a:rPr>
              <a:t>: данные не уходят во внешнее облако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Ключевые возможности</a:t>
            </a:r>
          </a:p>
        </p:txBody>
      </p:sp>
      <p:sp>
        <p:nvSpPr>
          <p:cNvPr id="34" name="Rounded Rectangle 56">
            <a:extLst>
              <a:ext uri="{FF2B5EF4-FFF2-40B4-BE49-F238E27FC236}">
                <a16:creationId xmlns:a16="http://schemas.microsoft.com/office/drawing/2014/main" id="{19C05FC7-AE9B-DC25-2007-A4FBE6E3002E}"/>
              </a:ext>
            </a:extLst>
          </p:cNvPr>
          <p:cNvSpPr/>
          <p:nvPr/>
        </p:nvSpPr>
        <p:spPr>
          <a:xfrm>
            <a:off x="886968" y="187452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5" name="Rounded Rectangle 57">
            <a:extLst>
              <a:ext uri="{FF2B5EF4-FFF2-40B4-BE49-F238E27FC236}">
                <a16:creationId xmlns:a16="http://schemas.microsoft.com/office/drawing/2014/main" id="{601108B6-55D9-C0B4-A460-E3EB7FB0BE6F}"/>
              </a:ext>
            </a:extLst>
          </p:cNvPr>
          <p:cNvSpPr/>
          <p:nvPr/>
        </p:nvSpPr>
        <p:spPr>
          <a:xfrm>
            <a:off x="685800" y="169164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Загрузка</a:t>
            </a:r>
            <a:r>
              <a:rPr b="1" dirty="0">
                <a:solidFill>
                  <a:srgbClr val="0E1F3D"/>
                </a:solidFill>
                <a:latin typeface="Inter"/>
              </a:rPr>
              <a:t> </a:t>
            </a:r>
            <a:r>
              <a:rPr b="1" dirty="0" err="1">
                <a:solidFill>
                  <a:srgbClr val="0E1F3D"/>
                </a:solidFill>
                <a:latin typeface="Inter"/>
              </a:rPr>
              <a:t>аудио</a:t>
            </a:r>
            <a:endParaRPr b="1" dirty="0">
              <a:solidFill>
                <a:srgbClr val="0E1F3D"/>
              </a:solidFill>
              <a:latin typeface="Inter"/>
            </a:endParaRPr>
          </a:p>
          <a:p>
            <a:pPr algn="ctr">
              <a:spcBef>
                <a:spcPts val="500"/>
              </a:spcBef>
            </a:pPr>
            <a:r>
              <a:rPr sz="1600" dirty="0">
                <a:solidFill>
                  <a:srgbClr val="546377"/>
                </a:solidFill>
                <a:latin typeface="Inter"/>
              </a:rPr>
              <a:t>MP3/WAV/M4A,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ограничение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размера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статус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обработки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36" name="Rounded Rectangle 58">
            <a:extLst>
              <a:ext uri="{FF2B5EF4-FFF2-40B4-BE49-F238E27FC236}">
                <a16:creationId xmlns:a16="http://schemas.microsoft.com/office/drawing/2014/main" id="{D0975B5E-78DB-AC7B-201C-45327AE66227}"/>
              </a:ext>
            </a:extLst>
          </p:cNvPr>
          <p:cNvSpPr/>
          <p:nvPr/>
        </p:nvSpPr>
        <p:spPr>
          <a:xfrm>
            <a:off x="4700016" y="187452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37" name="Rounded Rectangle 59">
            <a:extLst>
              <a:ext uri="{FF2B5EF4-FFF2-40B4-BE49-F238E27FC236}">
                <a16:creationId xmlns:a16="http://schemas.microsoft.com/office/drawing/2014/main" id="{ADC4917F-8D39-080D-6158-BA35E1E6B56F}"/>
              </a:ext>
            </a:extLst>
          </p:cNvPr>
          <p:cNvSpPr/>
          <p:nvPr/>
        </p:nvSpPr>
        <p:spPr>
          <a:xfrm>
            <a:off x="4498848" y="169164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Распознавание</a:t>
            </a:r>
            <a:r>
              <a:rPr b="1" dirty="0">
                <a:solidFill>
                  <a:srgbClr val="0E1F3D"/>
                </a:solidFill>
                <a:latin typeface="Inter"/>
              </a:rPr>
              <a:t> </a:t>
            </a:r>
            <a:r>
              <a:rPr b="1" dirty="0" err="1">
                <a:solidFill>
                  <a:srgbClr val="0E1F3D"/>
                </a:solidFill>
                <a:latin typeface="Inter"/>
              </a:rPr>
              <a:t>речи</a:t>
            </a:r>
            <a:endParaRPr b="1" dirty="0">
              <a:solidFill>
                <a:srgbClr val="0E1F3D"/>
              </a:solidFill>
              <a:latin typeface="Inter"/>
            </a:endParaRPr>
          </a:p>
          <a:p>
            <a:pPr algn="ctr">
              <a:spcBef>
                <a:spcPts val="500"/>
              </a:spcBef>
            </a:pPr>
            <a:r>
              <a:rPr sz="1600" dirty="0" err="1">
                <a:solidFill>
                  <a:srgbClr val="546377"/>
                </a:solidFill>
                <a:latin typeface="Inter"/>
              </a:rPr>
              <a:t>Русская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речь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таймкоды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спикеры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словарь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отраслевых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терминов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38" name="Rounded Rectangle 60">
            <a:extLst>
              <a:ext uri="{FF2B5EF4-FFF2-40B4-BE49-F238E27FC236}">
                <a16:creationId xmlns:a16="http://schemas.microsoft.com/office/drawing/2014/main" id="{342A8D19-7682-0A43-2FF3-60BF6D3782DB}"/>
              </a:ext>
            </a:extLst>
          </p:cNvPr>
          <p:cNvSpPr/>
          <p:nvPr/>
        </p:nvSpPr>
        <p:spPr>
          <a:xfrm>
            <a:off x="8513064" y="187452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9" name="Rounded Rectangle 61">
            <a:extLst>
              <a:ext uri="{FF2B5EF4-FFF2-40B4-BE49-F238E27FC236}">
                <a16:creationId xmlns:a16="http://schemas.microsoft.com/office/drawing/2014/main" id="{F38CCD4B-9713-9FD5-381C-B553A77B2A60}"/>
              </a:ext>
            </a:extLst>
          </p:cNvPr>
          <p:cNvSpPr/>
          <p:nvPr/>
        </p:nvSpPr>
        <p:spPr>
          <a:xfrm>
            <a:off x="8311896" y="169164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Извлечение</a:t>
            </a:r>
            <a:r>
              <a:rPr b="1" dirty="0">
                <a:solidFill>
                  <a:srgbClr val="0E1F3D"/>
                </a:solidFill>
                <a:latin typeface="Inter"/>
              </a:rPr>
              <a:t> </a:t>
            </a:r>
            <a:r>
              <a:rPr b="1" dirty="0" err="1">
                <a:solidFill>
                  <a:srgbClr val="0E1F3D"/>
                </a:solidFill>
                <a:latin typeface="Inter"/>
              </a:rPr>
              <a:t>структуры</a:t>
            </a:r>
            <a:endParaRPr b="1" dirty="0">
              <a:solidFill>
                <a:srgbClr val="0E1F3D"/>
              </a:solidFill>
              <a:latin typeface="Inter"/>
            </a:endParaRPr>
          </a:p>
          <a:p>
            <a:pPr algn="ctr">
              <a:spcBef>
                <a:spcPts val="500"/>
              </a:spcBef>
            </a:pPr>
            <a:r>
              <a:rPr sz="1600" dirty="0" err="1">
                <a:solidFill>
                  <a:srgbClr val="546377"/>
                </a:solidFill>
                <a:latin typeface="Inter"/>
              </a:rPr>
              <a:t>Решения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поручения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ответственные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сроки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риски</a:t>
            </a:r>
            <a:r>
              <a:rPr sz="1600" dirty="0">
                <a:solidFill>
                  <a:srgbClr val="546377"/>
                </a:solidFill>
                <a:latin typeface="Inter"/>
              </a:rPr>
              <a:t> и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нерешённые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вопросы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0" name="Rounded Rectangle 62">
            <a:extLst>
              <a:ext uri="{FF2B5EF4-FFF2-40B4-BE49-F238E27FC236}">
                <a16:creationId xmlns:a16="http://schemas.microsoft.com/office/drawing/2014/main" id="{36DAC051-AC77-B52F-6716-54FC630201FE}"/>
              </a:ext>
            </a:extLst>
          </p:cNvPr>
          <p:cNvSpPr/>
          <p:nvPr/>
        </p:nvSpPr>
        <p:spPr>
          <a:xfrm>
            <a:off x="886968" y="406908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41" name="Rounded Rectangle 63">
            <a:extLst>
              <a:ext uri="{FF2B5EF4-FFF2-40B4-BE49-F238E27FC236}">
                <a16:creationId xmlns:a16="http://schemas.microsoft.com/office/drawing/2014/main" id="{46DA4BA9-4FBE-4310-62DF-7756CA68F861}"/>
              </a:ext>
            </a:extLst>
          </p:cNvPr>
          <p:cNvSpPr/>
          <p:nvPr/>
        </p:nvSpPr>
        <p:spPr>
          <a:xfrm>
            <a:off x="685800" y="38862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Проверка</a:t>
            </a:r>
            <a:endParaRPr sz="1350" b="1" dirty="0">
              <a:solidFill>
                <a:srgbClr val="0E1F3D"/>
              </a:solidFill>
              <a:latin typeface="Inter"/>
            </a:endParaRPr>
          </a:p>
          <a:p>
            <a:pPr algn="ctr">
              <a:spcBef>
                <a:spcPts val="500"/>
              </a:spcBef>
            </a:pPr>
            <a:r>
              <a:rPr sz="1600" dirty="0" err="1">
                <a:solidFill>
                  <a:srgbClr val="546377"/>
                </a:solidFill>
                <a:latin typeface="Inter"/>
              </a:rPr>
              <a:t>Редактор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ссылка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на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таймкод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каждого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решения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2" name="Rounded Rectangle 64">
            <a:extLst>
              <a:ext uri="{FF2B5EF4-FFF2-40B4-BE49-F238E27FC236}">
                <a16:creationId xmlns:a16="http://schemas.microsoft.com/office/drawing/2014/main" id="{F97405A5-F577-21E5-29A8-2E30EDA817DD}"/>
              </a:ext>
            </a:extLst>
          </p:cNvPr>
          <p:cNvSpPr/>
          <p:nvPr/>
        </p:nvSpPr>
        <p:spPr>
          <a:xfrm>
            <a:off x="4700016" y="406908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3" name="Rounded Rectangle 65">
            <a:extLst>
              <a:ext uri="{FF2B5EF4-FFF2-40B4-BE49-F238E27FC236}">
                <a16:creationId xmlns:a16="http://schemas.microsoft.com/office/drawing/2014/main" id="{D6302CE6-6245-ACD9-EFE3-CF783D34EB86}"/>
              </a:ext>
            </a:extLst>
          </p:cNvPr>
          <p:cNvSpPr/>
          <p:nvPr/>
        </p:nvSpPr>
        <p:spPr>
          <a:xfrm>
            <a:off x="4498848" y="38862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Экспорт</a:t>
            </a:r>
            <a:endParaRPr b="1" dirty="0">
              <a:solidFill>
                <a:srgbClr val="0E1F3D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546377"/>
                </a:solidFill>
                <a:latin typeface="Inter"/>
              </a:rPr>
              <a:t>DOCX/PDF в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корпоративных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шаблонах</a:t>
            </a:r>
            <a:r>
              <a:rPr sz="1600" dirty="0">
                <a:solidFill>
                  <a:srgbClr val="546377"/>
                </a:solidFill>
                <a:latin typeface="Inter"/>
              </a:rPr>
              <a:t>;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черновик</a:t>
            </a:r>
            <a:r>
              <a:rPr sz="1600" dirty="0">
                <a:solidFill>
                  <a:srgbClr val="546377"/>
                </a:solidFill>
                <a:latin typeface="Inter"/>
              </a:rPr>
              <a:t> →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проверка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→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утверждение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→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контроль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4" name="Rounded Rectangle 66">
            <a:extLst>
              <a:ext uri="{FF2B5EF4-FFF2-40B4-BE49-F238E27FC236}">
                <a16:creationId xmlns:a16="http://schemas.microsoft.com/office/drawing/2014/main" id="{B3B16F24-449F-42C7-5F18-64A2C51B45E3}"/>
              </a:ext>
            </a:extLst>
          </p:cNvPr>
          <p:cNvSpPr/>
          <p:nvPr/>
        </p:nvSpPr>
        <p:spPr>
          <a:xfrm>
            <a:off x="8513064" y="4069080"/>
            <a:ext cx="475488" cy="310896"/>
          </a:xfrm>
          <a:prstGeom prst="roundRect">
            <a:avLst>
              <a:gd name="adj" fmla="val 40000"/>
            </a:avLst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45" name="Rounded Rectangle 67">
            <a:extLst>
              <a:ext uri="{FF2B5EF4-FFF2-40B4-BE49-F238E27FC236}">
                <a16:creationId xmlns:a16="http://schemas.microsoft.com/office/drawing/2014/main" id="{C0793980-B6DF-C272-8727-64862FD93C8E}"/>
              </a:ext>
            </a:extLst>
          </p:cNvPr>
          <p:cNvSpPr/>
          <p:nvPr/>
        </p:nvSpPr>
        <p:spPr>
          <a:xfrm>
            <a:off x="8311896" y="3886200"/>
            <a:ext cx="3520440" cy="1965960"/>
          </a:xfrm>
          <a:prstGeom prst="roundRect">
            <a:avLst>
              <a:gd name="adj" fmla="val 7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66928" rIns="182880" bIns="109728" rtlCol="0" anchor="t"/>
          <a:lstStyle/>
          <a:p>
            <a:pPr algn="ctr"/>
            <a:r>
              <a:rPr b="1" dirty="0" err="1">
                <a:solidFill>
                  <a:srgbClr val="0E1F3D"/>
                </a:solidFill>
                <a:latin typeface="Inter"/>
              </a:rPr>
              <a:t>Безопасность</a:t>
            </a:r>
            <a:endParaRPr sz="1350" b="1" dirty="0">
              <a:solidFill>
                <a:srgbClr val="0E1F3D"/>
              </a:solidFill>
              <a:latin typeface="Inter"/>
            </a:endParaRPr>
          </a:p>
          <a:p>
            <a:pPr algn="ctr">
              <a:spcBef>
                <a:spcPts val="500"/>
              </a:spcBef>
            </a:pPr>
            <a:r>
              <a:rPr lang="en-US" sz="1600" dirty="0">
                <a:solidFill>
                  <a:srgbClr val="546377"/>
                </a:solidFill>
                <a:latin typeface="Inter"/>
              </a:rPr>
              <a:t>O</a:t>
            </a:r>
            <a:r>
              <a:rPr sz="1600" dirty="0">
                <a:solidFill>
                  <a:srgbClr val="546377"/>
                </a:solidFill>
                <a:latin typeface="Inter"/>
              </a:rPr>
              <a:t>n-premise,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закрытый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контур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6B467314-FDC2-EDD7-8B52-F22FCB9C08A5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23B2A64-18F5-E291-1A6E-FEEA3E071C06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A97DEB-3209-6C4F-1222-38F69B6F864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2A37FD-960B-EA9B-FBE4-A13DD79E66A3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29764A-0A37-BF7A-D00A-B8A6DE76E105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0BFCA72-4940-49D5-F42E-4273E35A4A4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693858-1E11-C515-0FF4-0E51805A1042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D393096-A2B0-6CC4-E411-4BCEE217562A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B76C3D-02C0-16F2-034B-BCF6950BEAC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8B162A-1E45-3F79-B84C-9278FAC37B9D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FCF9285-84CD-CC8A-A2BB-8E77E3F8AF3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1ECC5F7-9E77-3CC7-B4B4-1AB9E695A65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5C04CC1-C621-4BB7-563A-BDD786B564D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9769C0F-0DFC-406C-03CF-248BEF4CF96E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75A6BB7-9ADE-53FF-33EF-D3328FD3836D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1CF1239-BA43-56D8-4E52-EC3367417E0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74341B-0086-8359-F3F4-495680513874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52831725-310E-003B-660E-B62C33244B25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E3D8DF4-E120-1A63-ABE0-306191FA242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521F739-4152-9755-7891-54D50BA29B17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3834688-7880-ADA2-4948-AFF17BEE31DA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6A58923-AA62-A71F-D9B0-ADA7D068D17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FCBE72C-8843-E76C-567A-8C4D749FC558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9B5C589-A8B9-00BD-8401-DBBCF2C6CB6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058D8DFF-2D91-9160-7D0C-8986508CAD9B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AEFF877-9A21-1777-5831-E764827FB1B5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5728125-4E74-3463-FC12-98C6CCC7ABE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CE4F64C-9681-DB7B-1FB2-4FC23738DEB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8CC6418-743D-D9C8-9C98-BC096C8845EC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Киллер фича(особенность вашего продукта)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/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 txBox="1"/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 txBox="1"/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 dirty="0">
                <a:solidFill>
                  <a:srgbClr val="FFFFFF"/>
                </a:solidFill>
                <a:latin typeface="Arial Black"/>
              </a:rPr>
              <a:t>Доказуемость: каждое решение — со ссылкой на фрагмент аудио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 txBox="1"/>
          <p:nvPr/>
        </p:nvSpPr>
        <p:spPr>
          <a:xfrm>
            <a:off x="965200" y="32512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FFFFFF"/>
                </a:solidFill>
                <a:latin typeface="Arial"/>
              </a:rPr>
              <a:t>Это не </a:t>
            </a:r>
            <a:r>
              <a:rPr lang="ru-RU" sz="1500" dirty="0" err="1">
                <a:solidFill>
                  <a:srgbClr val="FFFFFF"/>
                </a:solidFill>
                <a:latin typeface="Arial"/>
              </a:rPr>
              <a:t>транскрибация</a:t>
            </a:r>
            <a:r>
              <a:rPr lang="ru-RU" sz="1500" dirty="0">
                <a:solidFill>
                  <a:srgbClr val="FFFFFF"/>
                </a:solidFill>
                <a:latin typeface="Arial"/>
              </a:rPr>
              <a:t>, а корпоративный документ: любое решение разворачивается до исходной реплики в один клик, а сомнительные имена и сроки подсвечиваются с оценкой уверенности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/>
          <p:nvPr/>
        </p:nvSpPr>
        <p:spPr>
          <a:xfrm>
            <a:off x="965200" y="4673600"/>
            <a:ext cx="5892800" cy="863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 txBox="1"/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ЭФФЕКТ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 txBox="1"/>
          <p:nvPr/>
        </p:nvSpPr>
        <p:spPr>
          <a:xfrm>
            <a:off x="1219200" y="4978400"/>
            <a:ext cx="5384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/>
              </a:rPr>
              <a:t>У каждого решения и поручения есть </a:t>
            </a:r>
            <a:r>
              <a:rPr lang="ru-RU" sz="1300" b="1" dirty="0" err="1">
                <a:solidFill>
                  <a:srgbClr val="0F1B3D"/>
                </a:solidFill>
                <a:latin typeface="Arial"/>
              </a:rPr>
              <a:t>таймкод</a:t>
            </a:r>
            <a:r>
              <a:rPr lang="ru-RU" sz="1300" b="1" dirty="0">
                <a:solidFill>
                  <a:srgbClr val="0F1B3D"/>
                </a:solidFill>
                <a:latin typeface="Arial"/>
              </a:rPr>
              <a:t>, ответственный и срок — «выдуманные» формулировки исключены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 txBox="1"/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ЧЕМ ОТЛИЧАЕМСЯ?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/>
          <p:nvPr/>
        </p:nvSpPr>
        <p:spPr>
          <a:xfrm>
            <a:off x="7518400" y="1625600"/>
            <a:ext cx="4325188" cy="2082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/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 txBox="1"/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Иначе, чем у других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 txBox="1"/>
          <p:nvPr/>
        </p:nvSpPr>
        <p:spPr>
          <a:xfrm>
            <a:off x="7772400" y="2717800"/>
            <a:ext cx="3810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 err="1">
                <a:solidFill>
                  <a:srgbClr val="6B7892"/>
                </a:solidFill>
                <a:latin typeface="Arial"/>
              </a:rPr>
              <a:t>MyMeet</a:t>
            </a:r>
            <a:r>
              <a:rPr lang="ru-RU" sz="1400" dirty="0">
                <a:solidFill>
                  <a:srgbClr val="6B7892"/>
                </a:solidFill>
                <a:latin typeface="Arial"/>
              </a:rPr>
              <a:t>, Speech2Text, </a:t>
            </a:r>
            <a:r>
              <a:rPr lang="ru-RU" sz="1400" dirty="0" err="1">
                <a:solidFill>
                  <a:srgbClr val="6B7892"/>
                </a:solidFill>
                <a:latin typeface="Arial"/>
              </a:rPr>
              <a:t>Таймлист</a:t>
            </a:r>
            <a:r>
              <a:rPr lang="ru-RU" sz="1400" dirty="0">
                <a:solidFill>
                  <a:srgbClr val="6B7892"/>
                </a:solidFill>
                <a:latin typeface="Arial"/>
              </a:rPr>
              <a:t> — </a:t>
            </a:r>
            <a:r>
              <a:rPr lang="ru-RU" sz="1400" dirty="0" err="1">
                <a:solidFill>
                  <a:srgbClr val="6B7892"/>
                </a:solidFill>
                <a:latin typeface="Arial"/>
              </a:rPr>
              <a:t>транскрибация</a:t>
            </a:r>
            <a:r>
              <a:rPr lang="ru-RU" sz="1400" dirty="0">
                <a:solidFill>
                  <a:srgbClr val="6B7892"/>
                </a:solidFill>
                <a:latin typeface="Arial"/>
              </a:rPr>
              <a:t> встреч. Мы — формальный протокол: шаблоны, </a:t>
            </a:r>
            <a:r>
              <a:rPr lang="ru-RU" sz="1400" dirty="0" err="1">
                <a:solidFill>
                  <a:srgbClr val="6B7892"/>
                </a:solidFill>
                <a:latin typeface="Arial"/>
              </a:rPr>
              <a:t>workflow</a:t>
            </a:r>
            <a:r>
              <a:rPr lang="ru-RU" sz="1400" dirty="0">
                <a:solidFill>
                  <a:srgbClr val="6B7892"/>
                </a:solidFill>
                <a:latin typeface="Arial"/>
              </a:rPr>
              <a:t> утверждения, </a:t>
            </a:r>
            <a:r>
              <a:rPr lang="ru-RU" sz="1400" dirty="0" err="1">
                <a:solidFill>
                  <a:srgbClr val="6B7892"/>
                </a:solidFill>
                <a:latin typeface="Arial"/>
              </a:rPr>
              <a:t>on-premise</a:t>
            </a:r>
            <a:endParaRPr lang="ru-RU" sz="1400" dirty="0">
              <a:solidFill>
                <a:srgbClr val="6B7892"/>
              </a:solidFill>
              <a:latin typeface="Arial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/>
          <p:nvPr/>
        </p:nvSpPr>
        <p:spPr>
          <a:xfrm>
            <a:off x="7569200" y="3886200"/>
            <a:ext cx="4274388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/>
          <p:nvPr/>
        </p:nvSpPr>
        <p:spPr>
          <a:xfrm>
            <a:off x="7823200" y="4140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 txBox="1"/>
          <p:nvPr/>
        </p:nvSpPr>
        <p:spPr>
          <a:xfrm>
            <a:off x="7823200" y="46482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Эффект для пользователя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 txBox="1"/>
          <p:nvPr/>
        </p:nvSpPr>
        <p:spPr>
          <a:xfrm>
            <a:off x="7823200" y="4978400"/>
            <a:ext cx="37592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6B7892"/>
                </a:solidFill>
                <a:latin typeface="Arial"/>
              </a:rPr>
              <a:t>Черновик протокола готов за минуты после заседания; проверка — по ссылкам на аудио, а не по памяти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A218C37-98E6-4DFF-CC79-3DE0FD615B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09DBC5-86BA-CA7B-2FAA-857961E5DAE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3B09AB-9174-D36B-951F-5C706CE713A0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194180-8BE1-D5BD-8659-1310948872B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756EB55-DFA5-69A2-6A44-E3D91E821CD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8C1280D-3E4D-D2E4-F2EE-5ABC6ACC0FB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CCD9BB-18A0-B425-294B-166D052BD7F0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6DC5417-1371-6668-54DE-446A5996A927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9A64FA6-02B6-B0DF-020D-36FBFC1E67D0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C1FB737-E6A6-3C01-22EE-D76FC4CAC01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C57E28-9357-12D3-9259-E0BAAF28E554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688EE07-F4D7-3AE7-5F68-E6BCC33026F1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B8E5EFE-4E84-5878-0732-D0FAA9292712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097696-C1ED-35D4-C464-9738C07544F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066E6A-3459-2031-85D2-E432C7662D08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8644A8A-6295-B751-6ACC-9E07915F2FC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1EFFE68-616E-7D84-F880-EFEFB242CDF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0FB814B-4E09-E75A-6102-57A51BA642C2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FC6135C-9645-7B9A-9014-6F90AC7C873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6947C61-E56F-985B-4461-EF2C55DB2164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6DEC0BD-98BF-8DB4-8D65-F27844B8EFF8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831DAA-56ED-AAD2-DACA-154B00A1BFB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97A4B78-6E10-BD17-DE81-976DCE8CD94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1613DB59-F43B-7790-BF71-3B939508EE5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10EC174-52C4-0825-9E4F-9E6669D7EB4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71E1B4E-F208-7713-C571-EE532F36A8C7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197D6AD-55AB-BD54-74D3-0333A347750A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D705E6F-070E-151D-32D5-28FE5FAD8895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8073DBB-3E53-5907-92C9-666649EB572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Как это работает</a:t>
            </a:r>
          </a:p>
        </p:txBody>
      </p:sp>
      <p:sp>
        <p:nvSpPr>
          <p:cNvPr id="34" name="Oval 59">
            <a:extLst>
              <a:ext uri="{FF2B5EF4-FFF2-40B4-BE49-F238E27FC236}">
                <a16:creationId xmlns:a16="http://schemas.microsoft.com/office/drawing/2014/main" id="{648EF009-D498-B83F-4862-DD41FA5702D2}"/>
              </a:ext>
            </a:extLst>
          </p:cNvPr>
          <p:cNvSpPr/>
          <p:nvPr/>
        </p:nvSpPr>
        <p:spPr>
          <a:xfrm>
            <a:off x="777240" y="1581912"/>
            <a:ext cx="457200" cy="457200"/>
          </a:xfrm>
          <a:prstGeom prst="ellipse">
            <a:avLst/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5" name="Oval 61">
            <a:extLst>
              <a:ext uri="{FF2B5EF4-FFF2-40B4-BE49-F238E27FC236}">
                <a16:creationId xmlns:a16="http://schemas.microsoft.com/office/drawing/2014/main" id="{2C13D006-B62C-A61A-4350-C0B5B4872C62}"/>
              </a:ext>
            </a:extLst>
          </p:cNvPr>
          <p:cNvSpPr/>
          <p:nvPr/>
        </p:nvSpPr>
        <p:spPr>
          <a:xfrm>
            <a:off x="777240" y="2450591"/>
            <a:ext cx="457200" cy="457200"/>
          </a:xfrm>
          <a:prstGeom prst="ellipse">
            <a:avLst/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6" name="Oval 63">
            <a:extLst>
              <a:ext uri="{FF2B5EF4-FFF2-40B4-BE49-F238E27FC236}">
                <a16:creationId xmlns:a16="http://schemas.microsoft.com/office/drawing/2014/main" id="{522C28B0-C7E1-99DA-C8D6-F7BF8DA77004}"/>
              </a:ext>
            </a:extLst>
          </p:cNvPr>
          <p:cNvSpPr/>
          <p:nvPr/>
        </p:nvSpPr>
        <p:spPr>
          <a:xfrm>
            <a:off x="777240" y="3319271"/>
            <a:ext cx="457200" cy="457200"/>
          </a:xfrm>
          <a:prstGeom prst="ellipse">
            <a:avLst/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7" name="Oval 65">
            <a:extLst>
              <a:ext uri="{FF2B5EF4-FFF2-40B4-BE49-F238E27FC236}">
                <a16:creationId xmlns:a16="http://schemas.microsoft.com/office/drawing/2014/main" id="{906E04DF-9C9E-4586-B6A6-CE4385D410E8}"/>
              </a:ext>
            </a:extLst>
          </p:cNvPr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8" name="Oval 67">
            <a:extLst>
              <a:ext uri="{FF2B5EF4-FFF2-40B4-BE49-F238E27FC236}">
                <a16:creationId xmlns:a16="http://schemas.microsoft.com/office/drawing/2014/main" id="{E2F07DDD-0A0B-F920-C602-973C2B5DAC8D}"/>
              </a:ext>
            </a:extLst>
          </p:cNvPr>
          <p:cNvSpPr/>
          <p:nvPr/>
        </p:nvSpPr>
        <p:spPr>
          <a:xfrm>
            <a:off x="777240" y="5056632"/>
            <a:ext cx="457200" cy="457200"/>
          </a:xfrm>
          <a:prstGeom prst="ellipse">
            <a:avLst/>
          </a:prstGeom>
          <a:solidFill>
            <a:srgbClr val="11A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062F9B-BD30-374E-DB8F-F55F907F0CF7}"/>
              </a:ext>
            </a:extLst>
          </p:cNvPr>
          <p:cNvSpPr txBox="1"/>
          <p:nvPr/>
        </p:nvSpPr>
        <p:spPr>
          <a:xfrm>
            <a:off x="1417320" y="1672573"/>
            <a:ext cx="10149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E1F3D"/>
                </a:solidFill>
                <a:latin typeface="Inter"/>
              </a:rPr>
              <a:t>Загрузка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0E1F3D"/>
                </a:solidFill>
                <a:latin typeface="Inter"/>
              </a:rPr>
              <a:t>записи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 — 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аудиофайл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заседания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 (MP3/WAV/M4A)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остаётся</a:t>
            </a:r>
            <a:r>
              <a:rPr sz="1600" dirty="0">
                <a:solidFill>
                  <a:srgbClr val="546377"/>
                </a:solidFill>
                <a:latin typeface="Inter"/>
              </a:rPr>
              <a:t> в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инфраструктуре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компании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1B0135-62F2-5F91-C58E-65B25BA77299}"/>
              </a:ext>
            </a:extLst>
          </p:cNvPr>
          <p:cNvSpPr txBox="1"/>
          <p:nvPr/>
        </p:nvSpPr>
        <p:spPr>
          <a:xfrm>
            <a:off x="1424643" y="2537611"/>
            <a:ext cx="10149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E1F3D"/>
                </a:solidFill>
                <a:latin typeface="Inter"/>
              </a:rPr>
              <a:t>Распознавание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 — 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русская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речь</a:t>
            </a:r>
            <a:r>
              <a:rPr sz="1600" dirty="0">
                <a:solidFill>
                  <a:srgbClr val="546377"/>
                </a:solidFill>
                <a:latin typeface="Inter"/>
              </a:rPr>
              <a:t>: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таймкоды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спикеры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отраслевой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словарь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терминов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74B96F-7C14-E89E-7A76-29E6BB3DCAB6}"/>
              </a:ext>
            </a:extLst>
          </p:cNvPr>
          <p:cNvSpPr txBox="1"/>
          <p:nvPr/>
        </p:nvSpPr>
        <p:spPr>
          <a:xfrm>
            <a:off x="1417320" y="3372137"/>
            <a:ext cx="10149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E1F3D"/>
                </a:solidFill>
                <a:latin typeface="Inter"/>
              </a:rPr>
              <a:t>Извлечение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0E1F3D"/>
                </a:solidFill>
                <a:latin typeface="Inter"/>
              </a:rPr>
              <a:t>структуры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 — 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тема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участники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решения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поручения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ответственные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сроки</a:t>
            </a:r>
            <a:r>
              <a:rPr sz="1600" dirty="0">
                <a:solidFill>
                  <a:srgbClr val="546377"/>
                </a:solidFill>
                <a:latin typeface="Inter"/>
              </a:rPr>
              <a:t>,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риски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45D95D-0A4F-8FC6-95BC-C37B2C68B2E4}"/>
              </a:ext>
            </a:extLst>
          </p:cNvPr>
          <p:cNvSpPr txBox="1"/>
          <p:nvPr/>
        </p:nvSpPr>
        <p:spPr>
          <a:xfrm>
            <a:off x="1417320" y="4245314"/>
            <a:ext cx="10149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E1F3D"/>
                </a:solidFill>
                <a:latin typeface="Inter"/>
              </a:rPr>
              <a:t>Проверка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 —  </a:t>
            </a:r>
            <a:r>
              <a:rPr sz="1600" dirty="0">
                <a:solidFill>
                  <a:srgbClr val="546377"/>
                </a:solidFill>
                <a:latin typeface="Inter"/>
              </a:rPr>
              <a:t>у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каждого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решения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lang="ru-RU" sz="1600" dirty="0">
                <a:solidFill>
                  <a:srgbClr val="546377"/>
                </a:solidFill>
                <a:latin typeface="Inter"/>
              </a:rPr>
              <a:t>есть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ссылка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на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фрагмент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аудио</a:t>
            </a:r>
            <a:r>
              <a:rPr sz="1600" dirty="0">
                <a:solidFill>
                  <a:srgbClr val="546377"/>
                </a:solidFill>
                <a:latin typeface="Inter"/>
              </a:rPr>
              <a:t>;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сомнительные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имена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и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сроки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подсвечены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78A196-A9B7-2A5E-2EAF-EE0D6FEAE41C}"/>
              </a:ext>
            </a:extLst>
          </p:cNvPr>
          <p:cNvSpPr txBox="1"/>
          <p:nvPr/>
        </p:nvSpPr>
        <p:spPr>
          <a:xfrm>
            <a:off x="1424643" y="5101055"/>
            <a:ext cx="10149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E1F3D"/>
                </a:solidFill>
                <a:latin typeface="Inter"/>
              </a:rPr>
              <a:t>Экспорт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и </a:t>
            </a:r>
            <a:r>
              <a:rPr sz="1600" b="1" dirty="0" err="1">
                <a:solidFill>
                  <a:srgbClr val="0E1F3D"/>
                </a:solidFill>
                <a:latin typeface="Inter"/>
              </a:rPr>
              <a:t>контроль</a:t>
            </a:r>
            <a:r>
              <a:rPr sz="1600" b="1" dirty="0">
                <a:solidFill>
                  <a:srgbClr val="0E1F3D"/>
                </a:solidFill>
                <a:latin typeface="Inter"/>
              </a:rPr>
              <a:t>  — 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утверждение</a:t>
            </a:r>
            <a:r>
              <a:rPr sz="1600" dirty="0">
                <a:solidFill>
                  <a:srgbClr val="546377"/>
                </a:solidFill>
                <a:latin typeface="Inter"/>
              </a:rPr>
              <a:t> → DOCX/PDF →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передача</a:t>
            </a:r>
            <a:r>
              <a:rPr sz="1600" dirty="0">
                <a:solidFill>
                  <a:srgbClr val="546377"/>
                </a:solidFill>
                <a:latin typeface="Inter"/>
              </a:rPr>
              <a:t> </a:t>
            </a:r>
            <a:r>
              <a:rPr sz="1600" dirty="0" err="1">
                <a:solidFill>
                  <a:srgbClr val="546377"/>
                </a:solidFill>
                <a:latin typeface="Inter"/>
              </a:rPr>
              <a:t>поручени</a:t>
            </a:r>
            <a:r>
              <a:rPr lang="ru-RU" sz="1600" dirty="0">
                <a:solidFill>
                  <a:srgbClr val="546377"/>
                </a:solidFill>
                <a:latin typeface="Inter"/>
              </a:rPr>
              <a:t>й</a:t>
            </a:r>
            <a:endParaRPr sz="1600" dirty="0">
              <a:solidFill>
                <a:srgbClr val="546377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864B0945-D2C5-8C7B-9758-E18732F78C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9C7B47C-7408-3FF4-156A-0CD3D73F732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B322C-1D7B-CC04-7E36-B09048B74CF3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F17F71-6218-69E5-05B1-EEE247C1093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35A30F7-ED53-AC9D-34FB-4F6925F3C51C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6A0A320-EE7E-94CD-926F-B635F41512F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FE5F157-ECEC-F3BA-AC01-B9A45577ED7E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01AE495-B83D-BFBA-9E32-137DCA2E459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5621DC9-3A43-2057-CB99-29031D4CE09F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E7A7406-D636-75EE-DE77-4320E29C403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2636A01-5FA0-1877-8CD7-B6A7B565A609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7DA5A7F-18ED-1943-CD32-133FFAE3DEE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A2B505B-D50B-A589-5852-619B14C50AF8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70926D9-6D6C-524D-5CE5-D96A51C50F5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106AF4B-E091-8C73-1A44-61D7A70A6563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8C0B827-25E2-6D1F-51B5-73FF7751497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ED21031-2AF0-1DA6-03A7-CC62A4EF8193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EA49635-2F7F-234A-3BD4-33D753A0C9F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0ABB53-38A5-8938-FDB5-649BFE76AC9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9823465-39A0-6EBA-E640-7C673001CCF2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3237425-D3A1-C61B-2C53-5686F6837445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3537D7-FA97-643C-A3AE-E34FA7EBECBD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03B2ECC-1484-BFE6-7B9D-11C1BC44AD5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361B713-DA77-10B9-A687-1D2648CDE3A3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BB85CCA-6935-AD28-8D58-E6F058B59E3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B25BFA-8EED-A1CC-B5FB-D93D589F08AA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990E04E-D57B-D175-BBB8-26F81DAA2C0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D6B8225-2A81-901A-AFE2-6C4934A03F7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A833F5E4-357F-260D-F5F4-7B17B46CCB3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859790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/>
          <p:nvPr/>
        </p:nvSpPr>
        <p:spPr>
          <a:xfrm>
            <a:off x="186267" y="1480062"/>
            <a:ext cx="7496077" cy="4150271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5875">
            <a:solidFill>
              <a:srgbClr val="9FB3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C1AC70-CCF8-7D1A-5760-185BACB2EF0C}"/>
              </a:ext>
            </a:extLst>
          </p:cNvPr>
          <p:cNvSpPr txBox="1"/>
          <p:nvPr/>
        </p:nvSpPr>
        <p:spPr>
          <a:xfrm>
            <a:off x="2246745" y="2897909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Можно вставить </a:t>
            </a:r>
            <a:r>
              <a:rPr lang="ru-RU" sz="1200" b="1" dirty="0" err="1">
                <a:solidFill>
                  <a:srgbClr val="6B7892"/>
                </a:solidFill>
                <a:latin typeface="Arial" panose="020B0604020202020204" pitchFamily="34" charset="0"/>
              </a:rPr>
              <a:t>скринкастт</a:t>
            </a:r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92107-8E08-EAE3-4F8B-E4BAEA5F68BF}"/>
              </a:ext>
            </a:extLst>
          </p:cNvPr>
          <p:cNvSpPr txBox="1"/>
          <p:nvPr/>
        </p:nvSpPr>
        <p:spPr>
          <a:xfrm>
            <a:off x="8128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162A8B-721D-8E63-53FD-CB347BCF3D30}"/>
              </a:ext>
            </a:extLst>
          </p:cNvPr>
          <p:cNvSpPr txBox="1"/>
          <p:nvPr/>
        </p:nvSpPr>
        <p:spPr>
          <a:xfrm>
            <a:off x="44704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7924800" y="1407795"/>
            <a:ext cx="3657600" cy="432181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 txBox="1"/>
          <p:nvPr/>
        </p:nvSpPr>
        <p:spPr>
          <a:xfrm>
            <a:off x="8339913" y="20701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7FE3C4"/>
                </a:solidFill>
                <a:latin typeface="Arial Black" panose="020B0A04020102020204" pitchFamily="34" charset="0"/>
              </a:rPr>
              <a:t>MVP</a:t>
            </a:r>
            <a:endParaRPr lang="ru-RU" sz="2400">
              <a:solidFill>
                <a:srgbClr val="7FE3C4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 txBox="1"/>
          <p:nvPr/>
        </p:nvSpPr>
        <p:spPr>
          <a:xfrm>
            <a:off x="8339913" y="27051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 txBox="1"/>
          <p:nvPr/>
        </p:nvSpPr>
        <p:spPr>
          <a:xfrm>
            <a:off x="8339913" y="29337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Запись звонка</a:t>
            </a: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</a:rPr>
              <a:t>,</a:t>
            </a:r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 расшифровка</a:t>
            </a: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</a:rPr>
              <a:t>,</a:t>
            </a:r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 формирование отчёта и экспорт в </a:t>
            </a: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</a:rPr>
              <a:t>docx,</a:t>
            </a:r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</a:rPr>
              <a:t>pdf</a:t>
            </a:r>
            <a:endParaRPr lang="ru-RU" sz="13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 txBox="1"/>
          <p:nvPr/>
        </p:nvSpPr>
        <p:spPr>
          <a:xfrm>
            <a:off x="8339913" y="38481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7FE3C4"/>
                </a:solidFill>
                <a:latin typeface="Arial" panose="020B0604020202020204" pitchFamily="34" charset="0"/>
              </a:rPr>
              <a:t>СЦЕНАРИЙ ВЖИВУЮ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 txBox="1"/>
          <p:nvPr/>
        </p:nvSpPr>
        <p:spPr>
          <a:xfrm>
            <a:off x="8339913" y="40767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Покажем путь от записи до готового отчёта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7796641-0F63-B0C6-1D0F-DC57E3669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4" y="1568962"/>
            <a:ext cx="7396542" cy="394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11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CD72CB44-DBCA-627A-3ECD-26C504121302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ACF34C2-D1B4-9836-CF8A-D877CA27575F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E3DB0D1-4317-1EB8-9D87-AA8E74AECE5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F03C2C8-B464-ABE3-3804-7E306DB4D80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2689A18-A8BD-5F85-C350-770D38DFDF60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E75A7A9-BA9F-7300-AC15-2AE5737F3D5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F7ED531-5407-5F75-B6FD-A9455442BE6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E74FF39-FE56-18EC-28B5-4A1900D72D4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CCCBF7B-A2D3-B372-2F50-2A8E5AA9F88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9DA643B-33CB-EA2F-7E8D-5B8EC797D4F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5453158D-4AA3-0E95-5889-07E88E0860BD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75B89D-0A53-190A-B764-C34C241C04DB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740332-4E8D-6217-99D2-C72C1101A4B4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95514AB-DA45-AC4B-83BB-7049037B300D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9D1794-E6EA-BE16-F559-20DC4F68D37C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EB048D5-3BB3-F546-4FD5-EFD68169E17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655959D-B556-8E3A-EAE1-26441E39BCE0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1CA9D4B-4C85-A36B-6140-D126A6E36C9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82C7C1B-F4AE-5BE5-E24D-BE1A71D88E57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96D0FE89-E0A7-D1DF-6CFC-40163D230113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2D1D948-A0B7-7356-2057-716CAD2BC2A2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FBD34DD-523E-1972-4FC0-96A2D5C1D3E5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AE3E6BB-ED01-DA81-D7C3-1CFB4FB5AA82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B6E3A25-CE80-CA94-B735-114B17376867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C44B231D-2F79-EEC3-FDF0-4B5CBE08CD90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F791778-8DF6-41F9-3372-1DE070DAC782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C474C6F-85D8-C3A1-5B65-AC347069238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D556F8C2-7A93-3C60-6261-A119BA05B2D0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7695848-2C3B-5FDC-EA20-A1BF5BF9EB7D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Развитие проекта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6279473-B2B8-D7B5-1FCA-76C6A21C6332}"/>
              </a:ext>
            </a:extLst>
          </p:cNvPr>
          <p:cNvCxnSpPr/>
          <p:nvPr/>
        </p:nvCxn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/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/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 txBox="1"/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01 ·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 txBox="1"/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 dirty="0">
                <a:solidFill>
                  <a:srgbClr val="0F1B3D"/>
                </a:solidFill>
                <a:latin typeface="Arial" panose="020B0604020202020204" pitchFamily="34" charset="0"/>
              </a:rPr>
              <a:t>MVP</a:t>
            </a:r>
            <a:endParaRPr lang="ru-RU" b="1" dirty="0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 txBox="1"/>
          <p:nvPr/>
        </p:nvSpPr>
        <p:spPr>
          <a:xfrm>
            <a:off x="889000" y="3514928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6B7892"/>
                </a:solidFill>
                <a:latin typeface="Arial"/>
              </a:rPr>
              <a:t>Загрузка аудио, распознавание, извлечение решений и поручений, редактор проверки с </a:t>
            </a:r>
            <a:r>
              <a:rPr lang="ru-RU" sz="1400" dirty="0" err="1">
                <a:solidFill>
                  <a:srgbClr val="6B7892"/>
                </a:solidFill>
                <a:latin typeface="Arial"/>
              </a:rPr>
              <a:t>таймкодами</a:t>
            </a:r>
            <a:r>
              <a:rPr lang="ru-RU" sz="1400" dirty="0">
                <a:solidFill>
                  <a:srgbClr val="6B7892"/>
                </a:solidFill>
                <a:latin typeface="Arial"/>
              </a:rPr>
              <a:t>, экспорт DOCX/PDF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/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/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 txBox="1"/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 dirty="0">
                <a:solidFill>
                  <a:srgbClr val="22A889"/>
                </a:solidFill>
                <a:latin typeface="Arial" panose="020B0604020202020204" pitchFamily="34" charset="0"/>
              </a:rPr>
              <a:t>02 ·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 txBox="1"/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0F1B3D"/>
                </a:solidFill>
                <a:latin typeface="Arial" panose="020B0604020202020204" pitchFamily="34" charset="0"/>
              </a:rPr>
              <a:t>Полировка продукта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 txBox="1"/>
          <p:nvPr/>
        </p:nvSpPr>
        <p:spPr>
          <a:xfrm>
            <a:off x="4588510" y="3502228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6B7892"/>
                </a:solidFill>
                <a:latin typeface="Arial" panose="020B0604020202020204" pitchFamily="34" charset="0"/>
              </a:rPr>
              <a:t>Добавление новый функций</a:t>
            </a:r>
            <a:r>
              <a:rPr lang="en-US" sz="1400" dirty="0">
                <a:solidFill>
                  <a:srgbClr val="6B7892"/>
                </a:solidFill>
                <a:latin typeface="Arial" panose="020B0604020202020204" pitchFamily="34" charset="0"/>
              </a:rPr>
              <a:t>, </a:t>
            </a:r>
            <a:r>
              <a:rPr lang="ru-RU" sz="1400" dirty="0">
                <a:solidFill>
                  <a:srgbClr val="6B7892"/>
                </a:solidFill>
                <a:latin typeface="Arial" panose="020B0604020202020204" pitchFamily="34" charset="0"/>
              </a:rPr>
              <a:t>формирование инфраструктуры. Разобрать протоколы и критерии качества с реальным секретарём и руководителем.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/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/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 txBox="1"/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03 · ДАЛЬШЕ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 txBox="1"/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 dirty="0">
                <a:solidFill>
                  <a:srgbClr val="0F1B3D"/>
                </a:solidFill>
                <a:latin typeface="Arial" panose="020B0604020202020204" pitchFamily="34" charset="0"/>
              </a:rPr>
              <a:t>Выход на рынок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 txBox="1"/>
          <p:nvPr/>
        </p:nvSpPr>
        <p:spPr>
          <a:xfrm>
            <a:off x="8313420" y="3429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dirty="0">
                <a:solidFill>
                  <a:srgbClr val="6B7892"/>
                </a:solidFill>
                <a:latin typeface="Arial" panose="020B0604020202020204" pitchFamily="34" charset="0"/>
              </a:rPr>
              <a:t>Формирование отдела продаж и клиентского сервиса. Выход на окупаемость. Привлечение раунда инвестиций для экспансии в новые сегменты рынка.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6F216C-A989-2F3A-4D24-AD727A27AB91}"/>
              </a:ext>
            </a:extLst>
          </p:cNvPr>
          <p:cNvSpPr txBox="1"/>
          <p:nvPr/>
        </p:nvSpPr>
        <p:spPr>
          <a:xfrm>
            <a:off x="609600" y="1371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>
                <a:solidFill>
                  <a:srgbClr val="6B7892"/>
                </a:solidFill>
                <a:latin typeface="Arial" panose="020B0604020202020204" pitchFamily="34" charset="0"/>
              </a:rPr>
              <a:t>[Сроки этапов команда указывает сама]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-70628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/>
          <p:nvPr/>
        </p:nvSpPr>
        <p:spPr>
          <a:xfrm>
            <a:off x="6096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sz="1700" b="1" dirty="0" err="1">
                <a:solidFill>
                  <a:srgbClr val="FFFFFF"/>
                </a:solidFill>
                <a:latin typeface="Arial"/>
              </a:rPr>
              <a:t>Загружаем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аудиозапись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техштаба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→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получаем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черновик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протокола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→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проверяем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спорное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поручение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таймкоду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→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выгружаем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DOCX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62484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sz="1700" b="1" dirty="0" err="1">
                <a:solidFill>
                  <a:srgbClr val="FFFFFF"/>
                </a:solidFill>
                <a:latin typeface="Arial"/>
              </a:rPr>
              <a:t>Протокол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заседания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должен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быть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доказуемым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каждое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решение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проверяется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аудио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данные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покидают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контур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компании</a:t>
            </a:r>
            <a:endParaRPr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4983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https://github.com/Shararamoshik/sozvon/tree/main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920095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 dirty="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920095" y="583067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/>
              </a:rPr>
              <a:t>СИИ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dirty="0">
                <a:solidFill>
                  <a:srgbClr val="FFFFFF"/>
                </a:solidFill>
                <a:latin typeface="Arial" panose="020B0604020202020204" pitchFamily="34" charset="0"/>
              </a:rPr>
              <a:t>Стартап-</a:t>
            </a:r>
            <a:r>
              <a:rPr lang="ru-RU" sz="1000" dirty="0" err="1">
                <a:solidFill>
                  <a:srgbClr val="FFFFFF"/>
                </a:solidFill>
                <a:latin typeface="Arial" panose="020B0604020202020204" pitchFamily="34" charset="0"/>
              </a:rPr>
              <a:t>хакатон</a:t>
            </a:r>
            <a:r>
              <a:rPr lang="ru-RU" sz="1000" dirty="0">
                <a:solidFill>
                  <a:srgbClr val="FFFFFF"/>
                </a:solidFill>
                <a:latin typeface="Arial" panose="020B0604020202020204" pitchFamily="34" charset="0"/>
              </a:rPr>
              <a:t>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9C58FC50-9C5C-9102-4CE4-88554FD165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8" t="19055" r="5256" b="1852"/>
          <a:stretch/>
        </p:blipFill>
        <p:spPr>
          <a:xfrm>
            <a:off x="6248400" y="5413728"/>
            <a:ext cx="1263311" cy="131374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4214824-32F6-D9E4-4161-889DEAFC6A7C}"/>
              </a:ext>
            </a:extLst>
          </p:cNvPr>
          <p:cNvSpPr txBox="1"/>
          <p:nvPr/>
        </p:nvSpPr>
        <p:spPr>
          <a:xfrm>
            <a:off x="2559372" y="5768972"/>
            <a:ext cx="5416228" cy="341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+ 7 (902) 916 39 98</a:t>
            </a:r>
          </a:p>
        </p:txBody>
      </p:sp>
    </p:spTree>
    <p:extLst>
      <p:ext uri="{BB962C8B-B14F-4D97-AF65-F5344CB8AC3E}">
        <p14:creationId xmlns:p14="http://schemas.microsoft.com/office/powerpoint/2010/main" val="15538817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1169</Words>
  <Application>Microsoft Office PowerPoint</Application>
  <PresentationFormat>Широкоэкранный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Inter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Гурбатов</dc:creator>
  <cp:lastModifiedBy>Дмитрий</cp:lastModifiedBy>
  <cp:revision>16</cp:revision>
  <dcterms:created xsi:type="dcterms:W3CDTF">2026-09-26T12:28:36Z</dcterms:created>
  <dcterms:modified xsi:type="dcterms:W3CDTF">2026-09-27T03:31:20Z</dcterms:modified>
</cp:coreProperties>
</file>